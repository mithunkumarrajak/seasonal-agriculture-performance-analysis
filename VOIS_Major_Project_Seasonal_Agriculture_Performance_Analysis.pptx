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9/12/2026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9/12/2026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9/12/2026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7405" y="3429000"/>
            <a:ext cx="6105867" cy="86149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Student Name</a:t>
            </a:r>
            <a:r>
              <a:rPr lang="en-US" b="0" dirty="0">
                <a:solidFill>
                  <a:schemeClr val="tx1"/>
                </a:solidFill>
              </a:rPr>
              <a:t>: Mithun Kumar Rajak</a:t>
            </a:r>
            <a:endParaRPr lang="en-IN" b="0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College Name</a:t>
            </a:r>
            <a:r>
              <a:rPr lang="en-US" b="0" dirty="0">
                <a:solidFill>
                  <a:schemeClr val="tx1"/>
                </a:solidFill>
              </a:rPr>
              <a:t>: Jagran Lakecity University, Bhopal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06" y="2542566"/>
            <a:ext cx="10593892" cy="743448"/>
          </a:xfrm>
        </p:spPr>
        <p:txBody>
          <a:bodyPr>
            <a:normAutofit fontScale="90000"/>
          </a:bodyPr>
          <a:lstStyle/>
          <a:p>
            <a:r>
              <a:rPr lang="en-GB" sz="3200" b="1" dirty="0"/>
              <a:t>Project Title</a:t>
            </a:r>
            <a:r>
              <a:rPr lang="en-GB" sz="3200" dirty="0"/>
              <a:t>:</a:t>
            </a:r>
            <a:r>
              <a:rPr lang="en-IN" sz="3300" dirty="0"/>
              <a:t>Seasonal Agriculture Performance Analysis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957406" y="4555802"/>
            <a:ext cx="6105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</a:t>
            </a:r>
            <a:r>
              <a:rPr lang="en-IN" b="1" dirty="0"/>
              <a:t>STU693712de6ea801765216990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4604" y="1418254"/>
            <a:ext cx="7241080" cy="4270340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/>
              <a:t>Agricultural activities are influenced by seasonal variations in environmental conditions, farming practices, resource availability and market conditions. As a result, agricultural performance may differ from one season to another.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/>
              <a:t>However, raw agricultural data does not clearly explain how agricultural performance changes across seasons or what patterns can be observed in different seasonal conditions.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problem is to </a:t>
            </a:r>
            <a:r>
              <a:rPr lang="en-IN" dirty="0" err="1"/>
              <a:t>analyze</a:t>
            </a:r>
            <a:r>
              <a:rPr lang="en-IN" dirty="0"/>
              <a:t> the given agricultural dataset and investigate seasonal differences in agricultural performance by identifying meaningful patterns, trends, relationships and variations within the available data.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640298"/>
            <a:ext cx="6276109" cy="510402"/>
          </a:xfrm>
        </p:spPr>
        <p:txBody>
          <a:bodyPr>
            <a:noAutofit/>
          </a:bodyPr>
          <a:lstStyle/>
          <a:p>
            <a:pPr lvl="0"/>
            <a:r>
              <a:rPr lang="en-GB" sz="2400" dirty="0"/>
              <a:t>Project Description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B30D8DDF-7D5C-30C7-843E-C4E98F7AE838}"/>
              </a:ext>
            </a:extLst>
          </p:cNvPr>
          <p:cNvSpPr txBox="1">
            <a:spLocks/>
          </p:cNvSpPr>
          <p:nvPr/>
        </p:nvSpPr>
        <p:spPr>
          <a:xfrm>
            <a:off x="675957" y="1192293"/>
            <a:ext cx="8552019" cy="52796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1500" dirty="0"/>
              <a:t>Dataset Overview:</a:t>
            </a:r>
            <a:r>
              <a:rPr lang="en-IN" sz="1500" b="0" dirty="0"/>
              <a:t> 4,000 farm records across 8 major Indian states covering 8 crops (Rice, Wheat, Maize, Cotton, Pulses, Groundnut, Chilli, Sugarcane) across Kharif, Rabi, and Zaid seasons.</a:t>
            </a:r>
          </a:p>
          <a:p>
            <a:br>
              <a:rPr lang="en-IN" sz="1500" b="0" dirty="0"/>
            </a:br>
            <a:r>
              <a:rPr lang="en-IN" sz="1500" dirty="0"/>
              <a:t>Data Quality &amp; Preprocessing:</a:t>
            </a:r>
            <a:br>
              <a:rPr lang="en-IN" sz="1500" b="0" dirty="0"/>
            </a:br>
            <a:r>
              <a:rPr lang="en-IN" sz="1500" b="0" dirty="0"/>
              <a:t>100% data completeness achieved with deterministic yield calculation and hierarchical seasonal-regional median imputation.</a:t>
            </a:r>
          </a:p>
          <a:p>
            <a:br>
              <a:rPr lang="en-IN" sz="1500" b="0" dirty="0"/>
            </a:br>
            <a:r>
              <a:rPr lang="en-IN" sz="1500" dirty="0"/>
              <a:t>Feature Engineering:</a:t>
            </a:r>
            <a:br>
              <a:rPr lang="en-IN" sz="1500" b="0" dirty="0"/>
            </a:br>
            <a:r>
              <a:rPr lang="en-IN" sz="1500" b="0" dirty="0"/>
              <a:t>Formulated key performance metrics: Profit Margin (%), ROI (%), Cost/Ha, Profit/Ha, Water Productivity, Total NPK, and categorical Pest Risk.</a:t>
            </a:r>
          </a:p>
          <a:p>
            <a:br>
              <a:rPr lang="en-IN" sz="1500" b="0" dirty="0"/>
            </a:br>
            <a:r>
              <a:rPr lang="en-IN" sz="1500" dirty="0"/>
              <a:t>Analytical Architecture:</a:t>
            </a:r>
            <a:br>
              <a:rPr lang="en-IN" sz="1500" b="0" dirty="0"/>
            </a:br>
            <a:r>
              <a:rPr lang="en-IN" sz="1500" dirty="0"/>
              <a:t>Exploratory Data Analysis:</a:t>
            </a:r>
            <a:r>
              <a:rPr lang="en-IN" sz="1500" b="0" dirty="0"/>
              <a:t> Environmental profiles, crop mix, and yield/profit distributions.</a:t>
            </a:r>
            <a:br>
              <a:rPr lang="en-IN" sz="1500" b="0" dirty="0"/>
            </a:br>
            <a:r>
              <a:rPr lang="en-IN" sz="1500" dirty="0"/>
              <a:t>Statistical Rigor:</a:t>
            </a:r>
            <a:r>
              <a:rPr lang="en-IN" sz="1500" b="0" dirty="0"/>
              <a:t> Kruskal-Wallis, Chi-Square, and Mann-Whitney U hypothesis tests.</a:t>
            </a:r>
            <a:br>
              <a:rPr lang="en-IN" sz="1500" b="0" dirty="0"/>
            </a:br>
            <a:r>
              <a:rPr lang="en-IN" sz="1500" dirty="0"/>
              <a:t>Machine Learning:</a:t>
            </a:r>
            <a:r>
              <a:rPr lang="en-IN" sz="1500" b="0" dirty="0"/>
              <a:t> Random Forest Regressors for Yield and Profit.</a:t>
            </a:r>
            <a:br>
              <a:rPr lang="en-IN" sz="1500" b="0" dirty="0"/>
            </a:br>
            <a:r>
              <a:rPr lang="en-IN" sz="1500" dirty="0"/>
              <a:t>Unsupervised Clustering:</a:t>
            </a:r>
            <a:r>
              <a:rPr lang="en-IN" sz="1500" b="0" dirty="0"/>
              <a:t> K-Means ($K=2$) identifying distinct commercial vs. smallholder farm typologies</a:t>
            </a: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0008" y="1455010"/>
            <a:ext cx="8752592" cy="4740203"/>
          </a:xfrm>
        </p:spPr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IN" b="1" dirty="0"/>
              <a:t>Farmers &amp; Farmer Producer Organizations (FPOs):</a:t>
            </a:r>
            <a:endParaRPr lang="en-IN" dirty="0"/>
          </a:p>
          <a:p>
            <a:pPr lvl="1"/>
            <a:r>
              <a:rPr lang="en-IN" dirty="0"/>
              <a:t>Make informed decisions on seasonal crop selection, water-efficient irrigation (drip over furrow), and off-season risk mitigation.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b="1" dirty="0"/>
              <a:t>Ministry of Agriculture &amp; Policy Makers:</a:t>
            </a:r>
            <a:endParaRPr lang="en-IN" dirty="0"/>
          </a:p>
          <a:p>
            <a:pPr lvl="1"/>
            <a:r>
              <a:rPr lang="en-IN" dirty="0"/>
              <a:t>Design targeted summer (Zaid) subsidies, formulate groundwater extraction limits, and restructure PMFBY crop insurance.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b="1" dirty="0"/>
              <a:t>Agricultural Extension Workers &amp; Agronomists:</a:t>
            </a:r>
            <a:endParaRPr lang="en-IN" dirty="0"/>
          </a:p>
          <a:p>
            <a:pPr lvl="1"/>
            <a:r>
              <a:rPr lang="en-IN" dirty="0"/>
              <a:t>Provide early pre-monsoon pest advisories (Kharif) and promote precision NPK application.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b="1" dirty="0"/>
              <a:t>Agri-Fintech &amp; Crop Insurance Companies:</a:t>
            </a:r>
            <a:endParaRPr lang="en-IN" dirty="0"/>
          </a:p>
          <a:p>
            <a:pPr lvl="1"/>
            <a:r>
              <a:rPr lang="en-IN" dirty="0"/>
              <a:t>Model seasonal default risks, establish accurate credit ratings, and underwrite climate-indexed crop policies.</a:t>
            </a:r>
          </a:p>
          <a:p>
            <a:pPr algn="just">
              <a:lnSpc>
                <a:spcPct val="150000"/>
              </a:lnSpc>
            </a:pPr>
            <a:endParaRPr lang="en-IN" sz="15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781" y="586323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20465" y="1083138"/>
            <a:ext cx="10142799" cy="5243448"/>
          </a:xfrm>
        </p:spPr>
        <p:txBody>
          <a:bodyPr>
            <a:normAutofit fontScale="92500"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IN" b="1" dirty="0"/>
              <a:t>Programming Language:</a:t>
            </a:r>
            <a:r>
              <a:rPr lang="en-IN" dirty="0"/>
              <a:t> Python 3.11+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b="1" dirty="0"/>
              <a:t>Data Manipulation &amp; Preprocessing:</a:t>
            </a:r>
            <a:endParaRPr lang="en-I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pandas (grouping, crosstabs, feature engineering)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 err="1"/>
              <a:t>numpy</a:t>
            </a:r>
            <a:r>
              <a:rPr lang="en-IN" dirty="0"/>
              <a:t> (array calculations, vectorization)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b="1" dirty="0"/>
              <a:t>Data Visualization &amp; Analytics:</a:t>
            </a:r>
            <a:endParaRPr lang="en-I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 err="1"/>
              <a:t>matplotlib.pyplot</a:t>
            </a:r>
            <a:r>
              <a:rPr lang="en-IN" dirty="0"/>
              <a:t> (violin plots, multi-panel boxplots, bar charts)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seaborn (heatmaps, correlation matrices, styling)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b="1" dirty="0"/>
              <a:t>Machine Learning &amp; Statistical Testing:</a:t>
            </a:r>
            <a:endParaRPr lang="en-I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Scikit- learn (</a:t>
            </a:r>
            <a:r>
              <a:rPr lang="en-IN" dirty="0" err="1"/>
              <a:t>RandomForestRegressor</a:t>
            </a:r>
            <a:r>
              <a:rPr lang="en-IN" dirty="0"/>
              <a:t>, </a:t>
            </a:r>
            <a:r>
              <a:rPr lang="en-IN" dirty="0" err="1"/>
              <a:t>KMeans</a:t>
            </a:r>
            <a:r>
              <a:rPr lang="en-IN" dirty="0"/>
              <a:t>, PCA, </a:t>
            </a:r>
            <a:r>
              <a:rPr lang="en-IN" dirty="0" err="1"/>
              <a:t>StandardScaler</a:t>
            </a:r>
            <a:r>
              <a:rPr lang="en-IN" dirty="0"/>
              <a:t>, </a:t>
            </a:r>
            <a:r>
              <a:rPr lang="en-IN" dirty="0" err="1"/>
              <a:t>LabelEncoder</a:t>
            </a:r>
            <a:r>
              <a:rPr lang="en-IN" dirty="0"/>
              <a:t>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 err="1"/>
              <a:t>scipy.stats</a:t>
            </a:r>
            <a:r>
              <a:rPr lang="en-IN" dirty="0"/>
              <a:t> (</a:t>
            </a:r>
            <a:r>
              <a:rPr lang="en-IN" dirty="0" err="1"/>
              <a:t>kruskal</a:t>
            </a:r>
            <a:r>
              <a:rPr lang="en-IN" dirty="0"/>
              <a:t>, </a:t>
            </a:r>
            <a:r>
              <a:rPr lang="en-IN" dirty="0" err="1"/>
              <a:t>mannwhitneyu</a:t>
            </a:r>
            <a:r>
              <a:rPr lang="en-IN" dirty="0"/>
              <a:t>, chi2_contingency, </a:t>
            </a:r>
            <a:r>
              <a:rPr lang="en-IN" dirty="0" err="1"/>
              <a:t>f_oneway</a:t>
            </a:r>
            <a:r>
              <a:rPr lang="en-IN" dirty="0"/>
              <a:t>)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b="1" dirty="0"/>
              <a:t>Environment &amp; Tools:</a:t>
            </a:r>
            <a:r>
              <a:rPr lang="en-IN" dirty="0"/>
              <a:t> Jupyter Notebook, Git &amp; GitHub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0466" y="15144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1513" y="1201586"/>
            <a:ext cx="4275138" cy="4775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IN" dirty="0"/>
              <a:t>Dataset Overview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3CD522-5C90-92F9-1351-8BACE246C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93" y="1640363"/>
            <a:ext cx="11779213" cy="30831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7211C6-8B7B-50CC-00FA-F88318142B20}"/>
              </a:ext>
            </a:extLst>
          </p:cNvPr>
          <p:cNvSpPr txBox="1"/>
          <p:nvPr/>
        </p:nvSpPr>
        <p:spPr>
          <a:xfrm>
            <a:off x="675957" y="4839124"/>
            <a:ext cx="11108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4,000 Farm Records  |  8 Indian States  |  3 Seasons (Kharif, Rabi, Zaid)  |  8 Crops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2E8B6D-132D-424E-975D-F6AC954D0884}"/>
              </a:ext>
            </a:extLst>
          </p:cNvPr>
          <p:cNvSpPr txBox="1"/>
          <p:nvPr/>
        </p:nvSpPr>
        <p:spPr>
          <a:xfrm>
            <a:off x="699841" y="5213297"/>
            <a:ext cx="6989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Geographic representation is evenly distributed across all 8 states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1271" y="1201586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Seasonal Economic Performance</a:t>
            </a:r>
            <a:endParaRPr lang="en-IN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CE2B64-0207-1E69-C231-D674DB455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3" y="1763486"/>
            <a:ext cx="6732960" cy="46458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FD8939-6919-FBF6-5ADB-0BB3CBA06EBE}"/>
              </a:ext>
            </a:extLst>
          </p:cNvPr>
          <p:cNvSpPr txBox="1"/>
          <p:nvPr/>
        </p:nvSpPr>
        <p:spPr>
          <a:xfrm>
            <a:off x="7260210" y="4336652"/>
            <a:ext cx="44777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Note:</a:t>
            </a:r>
            <a:r>
              <a:rPr lang="en-IN" dirty="0"/>
              <a:t> Kharif is the only strongly lucrative season with 57.8% profitable farms (</a:t>
            </a:r>
            <a:r>
              <a:rPr lang="en-IN" dirty="0" err="1"/>
              <a:t>avg</a:t>
            </a:r>
            <a:r>
              <a:rPr lang="en-IN" dirty="0"/>
              <a:t> profit Rs. 1.8 Lakh), whereas 64.5% of Zaid farms operate at a net loss (</a:t>
            </a:r>
            <a:r>
              <a:rPr lang="en-IN" dirty="0" err="1"/>
              <a:t>avg</a:t>
            </a:r>
            <a:r>
              <a:rPr lang="en-IN" dirty="0"/>
              <a:t> loss -Rs. 24.8k) due to high irrigation and input costs.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DC2676-4FB2-81CF-C76F-A1BA6DF21A83}"/>
              </a:ext>
            </a:extLst>
          </p:cNvPr>
          <p:cNvSpPr txBox="1"/>
          <p:nvPr/>
        </p:nvSpPr>
        <p:spPr>
          <a:xfrm>
            <a:off x="7260210" y="1174248"/>
            <a:ext cx="4690708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/>
              <a:t># bar chart of average profit with data labels</a:t>
            </a:r>
          </a:p>
          <a:p>
            <a:r>
              <a:rPr lang="en-IN" sz="1050" dirty="0"/>
              <a:t>fig, </a:t>
            </a:r>
            <a:r>
              <a:rPr lang="en-IN" sz="1050" dirty="0" err="1"/>
              <a:t>ax</a:t>
            </a:r>
            <a:r>
              <a:rPr lang="en-IN" sz="1050" dirty="0"/>
              <a:t> = </a:t>
            </a:r>
            <a:r>
              <a:rPr lang="en-IN" sz="1050" dirty="0" err="1"/>
              <a:t>plt.subplots</a:t>
            </a:r>
            <a:r>
              <a:rPr lang="en-IN" sz="1050" dirty="0"/>
              <a:t>(</a:t>
            </a:r>
            <a:r>
              <a:rPr lang="en-IN" sz="1050" dirty="0" err="1"/>
              <a:t>figsize</a:t>
            </a:r>
            <a:r>
              <a:rPr lang="en-IN" sz="1050" dirty="0"/>
              <a:t>=(8, 5))</a:t>
            </a:r>
          </a:p>
          <a:p>
            <a:r>
              <a:rPr lang="en-IN" sz="1050" dirty="0"/>
              <a:t>seasons = SEASON_ORDER</a:t>
            </a:r>
          </a:p>
          <a:p>
            <a:r>
              <a:rPr lang="en-IN" sz="1050" dirty="0"/>
              <a:t>profits = [</a:t>
            </a:r>
            <a:r>
              <a:rPr lang="en-IN" sz="1050" dirty="0" err="1"/>
              <a:t>df</a:t>
            </a:r>
            <a:r>
              <a:rPr lang="en-IN" sz="1050" dirty="0"/>
              <a:t>[</a:t>
            </a:r>
            <a:r>
              <a:rPr lang="en-IN" sz="1050" dirty="0" err="1"/>
              <a:t>df</a:t>
            </a:r>
            <a:r>
              <a:rPr lang="en-IN" sz="1050" dirty="0"/>
              <a:t>['Season'] == s]['</a:t>
            </a:r>
            <a:r>
              <a:rPr lang="en-IN" sz="1050" dirty="0" err="1"/>
              <a:t>Profit_INR</a:t>
            </a:r>
            <a:r>
              <a:rPr lang="en-IN" sz="1050" dirty="0"/>
              <a:t>'].mean() / 1e5 for s in seasons]</a:t>
            </a:r>
          </a:p>
          <a:p>
            <a:r>
              <a:rPr lang="en-IN" sz="1050" dirty="0"/>
              <a:t>bars = </a:t>
            </a:r>
            <a:r>
              <a:rPr lang="en-IN" sz="1050" dirty="0" err="1"/>
              <a:t>ax.bar</a:t>
            </a:r>
            <a:r>
              <a:rPr lang="en-IN" sz="1050" dirty="0"/>
              <a:t>(seasons, profits, </a:t>
            </a:r>
            <a:r>
              <a:rPr lang="en-IN" sz="1050" dirty="0" err="1"/>
              <a:t>color</a:t>
            </a:r>
            <a:r>
              <a:rPr lang="en-IN" sz="1050" dirty="0"/>
              <a:t>=[SEASON_COLORS[s] for s in seasons],</a:t>
            </a:r>
          </a:p>
          <a:p>
            <a:r>
              <a:rPr lang="en-IN" sz="1050" dirty="0"/>
              <a:t>              </a:t>
            </a:r>
            <a:r>
              <a:rPr lang="en-IN" sz="1050" dirty="0" err="1"/>
              <a:t>edgecolor</a:t>
            </a:r>
            <a:r>
              <a:rPr lang="en-IN" sz="1050" dirty="0"/>
              <a:t>='white', alpha=0.88)</a:t>
            </a:r>
          </a:p>
          <a:p>
            <a:r>
              <a:rPr lang="en-IN" sz="1050" dirty="0" err="1"/>
              <a:t>ax.axhline</a:t>
            </a:r>
            <a:r>
              <a:rPr lang="en-IN" sz="1050" dirty="0"/>
              <a:t>(0, </a:t>
            </a:r>
            <a:r>
              <a:rPr lang="en-IN" sz="1050" dirty="0" err="1"/>
              <a:t>color</a:t>
            </a:r>
            <a:r>
              <a:rPr lang="en-IN" sz="1050" dirty="0"/>
              <a:t>='black', linewidth=0.9, </a:t>
            </a:r>
            <a:r>
              <a:rPr lang="en-IN" sz="1050" dirty="0" err="1"/>
              <a:t>linestyle</a:t>
            </a:r>
            <a:r>
              <a:rPr lang="en-IN" sz="1050" dirty="0"/>
              <a:t>='--')</a:t>
            </a:r>
          </a:p>
          <a:p>
            <a:r>
              <a:rPr lang="en-IN" sz="1050" dirty="0" err="1"/>
              <a:t>ax.set_ylabel</a:t>
            </a:r>
            <a:r>
              <a:rPr lang="en-IN" sz="1050" dirty="0"/>
              <a:t>('</a:t>
            </a:r>
            <a:r>
              <a:rPr lang="en-IN" sz="1050" dirty="0" err="1"/>
              <a:t>Avg</a:t>
            </a:r>
            <a:r>
              <a:rPr lang="en-IN" sz="1050" dirty="0"/>
              <a:t> Profit (in Lakh Rs)')</a:t>
            </a:r>
          </a:p>
          <a:p>
            <a:r>
              <a:rPr lang="en-IN" sz="1050" dirty="0" err="1"/>
              <a:t>ax.set_title</a:t>
            </a:r>
            <a:r>
              <a:rPr lang="en-IN" sz="1050" dirty="0"/>
              <a:t>('Average Profit by Season', </a:t>
            </a:r>
            <a:r>
              <a:rPr lang="en-IN" sz="1050" dirty="0" err="1"/>
              <a:t>fontweight</a:t>
            </a:r>
            <a:r>
              <a:rPr lang="en-IN" sz="1050" dirty="0"/>
              <a:t>='bold')</a:t>
            </a:r>
          </a:p>
          <a:p>
            <a:r>
              <a:rPr lang="en-IN" sz="1050" dirty="0" err="1"/>
              <a:t>ax.set_ylim</a:t>
            </a:r>
            <a:r>
              <a:rPr lang="en-IN" sz="1050" dirty="0"/>
              <a:t>(-0.6, 2.2)</a:t>
            </a:r>
          </a:p>
          <a:p>
            <a:endParaRPr lang="en-IN" sz="1050" dirty="0"/>
          </a:p>
          <a:p>
            <a:r>
              <a:rPr lang="en-IN" sz="1050" dirty="0"/>
              <a:t>for bar, </a:t>
            </a:r>
            <a:r>
              <a:rPr lang="en-IN" sz="1050" dirty="0" err="1"/>
              <a:t>val</a:t>
            </a:r>
            <a:r>
              <a:rPr lang="en-IN" sz="1050" dirty="0"/>
              <a:t> in zip(bars, profits):</a:t>
            </a:r>
          </a:p>
          <a:p>
            <a:r>
              <a:rPr lang="en-IN" sz="1050" dirty="0"/>
              <a:t>    y = </a:t>
            </a:r>
            <a:r>
              <a:rPr lang="en-IN" sz="1050" dirty="0" err="1"/>
              <a:t>val</a:t>
            </a:r>
            <a:r>
              <a:rPr lang="en-IN" sz="1050" dirty="0"/>
              <a:t> + 0.08 if </a:t>
            </a:r>
            <a:r>
              <a:rPr lang="en-IN" sz="1050" dirty="0" err="1"/>
              <a:t>val</a:t>
            </a:r>
            <a:r>
              <a:rPr lang="en-IN" sz="1050" dirty="0"/>
              <a:t> &gt;= 0 else </a:t>
            </a:r>
            <a:r>
              <a:rPr lang="en-IN" sz="1050" dirty="0" err="1"/>
              <a:t>val</a:t>
            </a:r>
            <a:r>
              <a:rPr lang="en-IN" sz="1050" dirty="0"/>
              <a:t> - 0.15</a:t>
            </a:r>
          </a:p>
          <a:p>
            <a:r>
              <a:rPr lang="en-IN" sz="1050" dirty="0"/>
              <a:t>    </a:t>
            </a:r>
            <a:r>
              <a:rPr lang="en-IN" sz="1050" dirty="0" err="1"/>
              <a:t>ax.text</a:t>
            </a:r>
            <a:r>
              <a:rPr lang="en-IN" sz="1050" dirty="0"/>
              <a:t>(</a:t>
            </a:r>
            <a:r>
              <a:rPr lang="en-IN" sz="1050" dirty="0" err="1"/>
              <a:t>bar.get_x</a:t>
            </a:r>
            <a:r>
              <a:rPr lang="en-IN" sz="1050" dirty="0"/>
              <a:t>() + </a:t>
            </a:r>
            <a:r>
              <a:rPr lang="en-IN" sz="1050" dirty="0" err="1"/>
              <a:t>bar.get_width</a:t>
            </a:r>
            <a:r>
              <a:rPr lang="en-IN" sz="1050" dirty="0"/>
              <a:t>() / 2, y,</a:t>
            </a:r>
          </a:p>
          <a:p>
            <a:r>
              <a:rPr lang="en-IN" sz="1050" dirty="0"/>
              <a:t>            </a:t>
            </a:r>
            <a:r>
              <a:rPr lang="en-IN" sz="1050" dirty="0" err="1"/>
              <a:t>f'Rs</a:t>
            </a:r>
            <a:r>
              <a:rPr lang="en-IN" sz="1050" dirty="0"/>
              <a:t> {val:.1f}L', ha='</a:t>
            </a:r>
            <a:r>
              <a:rPr lang="en-IN" sz="1050" dirty="0" err="1"/>
              <a:t>center</a:t>
            </a:r>
            <a:r>
              <a:rPr lang="en-IN" sz="1050" dirty="0"/>
              <a:t>', </a:t>
            </a:r>
            <a:r>
              <a:rPr lang="en-IN" sz="1050" dirty="0" err="1"/>
              <a:t>fontsize</a:t>
            </a:r>
            <a:r>
              <a:rPr lang="en-IN" sz="1050" dirty="0"/>
              <a:t>=10, </a:t>
            </a:r>
            <a:r>
              <a:rPr lang="en-IN" sz="1050" dirty="0" err="1"/>
              <a:t>fontweight</a:t>
            </a:r>
            <a:r>
              <a:rPr lang="en-IN" sz="1050" dirty="0"/>
              <a:t>='bold')</a:t>
            </a:r>
          </a:p>
          <a:p>
            <a:r>
              <a:rPr lang="en-IN" sz="1050" dirty="0" err="1"/>
              <a:t>plt.tight_layout</a:t>
            </a:r>
            <a:r>
              <a:rPr lang="en-IN" sz="1050" dirty="0"/>
              <a:t>()</a:t>
            </a:r>
          </a:p>
          <a:p>
            <a:r>
              <a:rPr lang="en-IN" sz="1050" dirty="0" err="1"/>
              <a:t>plt.show</a:t>
            </a:r>
            <a:r>
              <a:rPr lang="en-IN" sz="1050" dirty="0"/>
              <a:t>()</a:t>
            </a:r>
          </a:p>
          <a:p>
            <a:endParaRPr lang="en-IN" sz="10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E22474-6D04-4CAC-B52C-F44A5B8E29F6}"/>
              </a:ext>
            </a:extLst>
          </p:cNvPr>
          <p:cNvSpPr txBox="1"/>
          <p:nvPr/>
        </p:nvSpPr>
        <p:spPr>
          <a:xfrm>
            <a:off x="7285137" y="804916"/>
            <a:ext cx="808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Code:</a:t>
            </a:r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1513" y="1353532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Water &amp; Fertilizer Usage</a:t>
            </a:r>
            <a:endParaRPr lang="en-IN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43B020-9C32-76A5-075E-8C798A5F9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2" y="1909213"/>
            <a:ext cx="6305550" cy="49244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EC564DC-5D11-7281-26E4-4EA47E69D0E6}"/>
              </a:ext>
            </a:extLst>
          </p:cNvPr>
          <p:cNvSpPr txBox="1"/>
          <p:nvPr/>
        </p:nvSpPr>
        <p:spPr>
          <a:xfrm>
            <a:off x="6658260" y="2188028"/>
            <a:ext cx="52127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Finding:</a:t>
            </a:r>
            <a:r>
              <a:rPr lang="en-IN" dirty="0"/>
              <a:t> Drip irrigation delivers the highest water productivity across all seasons (~6.8 T/1000m3), substantially outperforming furrow and canal irrigation, while pesticide application rates remain uniform (~5.1 L/Ha).</a:t>
            </a:r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6713337" y="2065534"/>
            <a:ext cx="5157681" cy="16573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1513" y="1369650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Disease &amp; Pest Risk Analysis</a:t>
            </a:r>
            <a:endParaRPr lang="en-IN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1B3D5E-A3E2-F066-47DF-414039260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2" y="2065535"/>
            <a:ext cx="6226775" cy="386217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1FCB96F-055A-6011-661A-39BC62E0294F}"/>
              </a:ext>
            </a:extLst>
          </p:cNvPr>
          <p:cNvSpPr txBox="1"/>
          <p:nvPr/>
        </p:nvSpPr>
        <p:spPr>
          <a:xfrm>
            <a:off x="6746423" y="2274838"/>
            <a:ext cx="512459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Insight:</a:t>
            </a:r>
            <a:r>
              <a:rPr lang="en-IN" dirty="0"/>
              <a:t> Pest risk is strongly positively correlated with Rainfall ($r = 0.62$) and </a:t>
            </a:r>
          </a:p>
          <a:p>
            <a:endParaRPr lang="en-IN" dirty="0"/>
          </a:p>
          <a:p>
            <a:r>
              <a:rPr lang="en-IN" dirty="0"/>
              <a:t>Humidity ($r = 0.55$), confirming that monsoon warmth and moisture create optimal breeding conditions for agricultural pests.</a:t>
            </a:r>
          </a:p>
          <a:p>
            <a:br>
              <a:rPr lang="en-IN" dirty="0"/>
            </a:b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BD4BB91-0345-5CDC-D228-928B17F82AD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CE9F066-A9B8-CAD7-72AF-F88B63CAFF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22" name="Title 3">
            <a:extLst>
              <a:ext uri="{FF2B5EF4-FFF2-40B4-BE49-F238E27FC236}">
                <a16:creationId xmlns:a16="http://schemas.microsoft.com/office/drawing/2014/main" id="{D31D44DB-BDA6-FFED-5FC6-FEEFB0F9D7EE}"/>
              </a:ext>
            </a:extLst>
          </p:cNvPr>
          <p:cNvSpPr txBox="1">
            <a:spLocks/>
          </p:cNvSpPr>
          <p:nvPr/>
        </p:nvSpPr>
        <p:spPr>
          <a:xfrm>
            <a:off x="675957" y="370589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/>
              <a:t>RESULTS </a:t>
            </a:r>
            <a:endParaRPr lang="en-IN" dirty="0"/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3A7FF2B9-2FA1-E923-3C6B-28C8A595CF1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7019B14A-E068-70A0-E745-DD1DC5C916E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5" name="Text Placeholder 1">
            <a:extLst>
              <a:ext uri="{FF2B5EF4-FFF2-40B4-BE49-F238E27FC236}">
                <a16:creationId xmlns:a16="http://schemas.microsoft.com/office/drawing/2014/main" id="{9A310C1E-0142-A4ED-5150-4782E70D9EA9}"/>
              </a:ext>
            </a:extLst>
          </p:cNvPr>
          <p:cNvSpPr txBox="1">
            <a:spLocks/>
          </p:cNvSpPr>
          <p:nvPr/>
        </p:nvSpPr>
        <p:spPr>
          <a:xfrm>
            <a:off x="675957" y="1350000"/>
            <a:ext cx="9500000" cy="50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2400" b="1"/>
              <a:t>Predicting Yield &amp; Profit + Farm Clustering</a:t>
            </a:r>
            <a:endParaRPr lang="en-IN" sz="2400" b="1" dirty="0"/>
          </a:p>
        </p:txBody>
      </p:sp>
      <p:pic>
        <p:nvPicPr>
          <p:cNvPr id="26" name="Chart Feature Importance">
            <a:extLst>
              <a:ext uri="{FF2B5EF4-FFF2-40B4-BE49-F238E27FC236}">
                <a16:creationId xmlns:a16="http://schemas.microsoft.com/office/drawing/2014/main" id="{926D43E4-B053-1559-28E7-BD849C7333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322" y="2100000"/>
            <a:ext cx="5128813" cy="3400000"/>
          </a:xfrm>
          <a:prstGeom prst="rect">
            <a:avLst/>
          </a:prstGeom>
        </p:spPr>
      </p:pic>
      <p:pic>
        <p:nvPicPr>
          <p:cNvPr id="27" name="Chart Farm Clusters">
            <a:extLst>
              <a:ext uri="{FF2B5EF4-FFF2-40B4-BE49-F238E27FC236}">
                <a16:creationId xmlns:a16="http://schemas.microsoft.com/office/drawing/2014/main" id="{A8481C34-0919-D1FF-8B94-E9FCCF9DAC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9135" y="2100000"/>
            <a:ext cx="4552542" cy="3400000"/>
          </a:xfrm>
          <a:prstGeom prst="rect">
            <a:avLst/>
          </a:prstGeom>
        </p:spPr>
      </p:pic>
      <p:sp>
        <p:nvSpPr>
          <p:cNvPr id="28" name="Label Feature Importance">
            <a:extLst>
              <a:ext uri="{FF2B5EF4-FFF2-40B4-BE49-F238E27FC236}">
                <a16:creationId xmlns:a16="http://schemas.microsoft.com/office/drawing/2014/main" id="{4C94BE80-3E5C-12CD-A8DB-E3F21C35EC03}"/>
              </a:ext>
            </a:extLst>
          </p:cNvPr>
          <p:cNvSpPr txBox="1"/>
          <p:nvPr/>
        </p:nvSpPr>
        <p:spPr>
          <a:xfrm>
            <a:off x="1130322" y="5550000"/>
            <a:ext cx="5128813" cy="35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sz="1500" b="1" dirty="0"/>
              <a:t>Yield Prediction — R² = 0.962 (Random Forest)</a:t>
            </a:r>
          </a:p>
        </p:txBody>
      </p:sp>
      <p:sp>
        <p:nvSpPr>
          <p:cNvPr id="29" name="Label Farm Clusters">
            <a:extLst>
              <a:ext uri="{FF2B5EF4-FFF2-40B4-BE49-F238E27FC236}">
                <a16:creationId xmlns:a16="http://schemas.microsoft.com/office/drawing/2014/main" id="{164CABAD-739C-D4FD-8873-03A71137F95F}"/>
              </a:ext>
            </a:extLst>
          </p:cNvPr>
          <p:cNvSpPr txBox="1"/>
          <p:nvPr/>
        </p:nvSpPr>
        <p:spPr>
          <a:xfrm>
            <a:off x="6509135" y="5550000"/>
            <a:ext cx="4552542" cy="35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500" b="1" dirty="0"/>
              <a:t>Farm Clusters (K-Means)</a:t>
            </a:r>
          </a:p>
        </p:txBody>
      </p:sp>
      <p:sp>
        <p:nvSpPr>
          <p:cNvPr id="30" name="ML Summary Line">
            <a:extLst>
              <a:ext uri="{FF2B5EF4-FFF2-40B4-BE49-F238E27FC236}">
                <a16:creationId xmlns:a16="http://schemas.microsoft.com/office/drawing/2014/main" id="{CE001532-CFF8-7A9C-3789-4C920F17D07E}"/>
              </a:ext>
            </a:extLst>
          </p:cNvPr>
          <p:cNvSpPr txBox="1"/>
          <p:nvPr/>
        </p:nvSpPr>
        <p:spPr>
          <a:xfrm>
            <a:off x="675957" y="5950000"/>
            <a:ext cx="10500000" cy="300000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pPr algn="ctr"/>
            <a:r>
              <a:rPr lang="en-US" sz="1400" i="1" dirty="0"/>
              <a:t>Profit prediction R² = 0.869 - farms cluster into 2 archetypes: high-input/high-output vs low-input</a:t>
            </a:r>
          </a:p>
        </p:txBody>
      </p:sp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2319142-389A-3564-5CEF-AD53AE3C41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0" name="Title 3">
            <a:extLst>
              <a:ext uri="{FF2B5EF4-FFF2-40B4-BE49-F238E27FC236}">
                <a16:creationId xmlns:a16="http://schemas.microsoft.com/office/drawing/2014/main" id="{D312BFA8-5AB6-C6E5-23BD-D242DA4AA9A4}"/>
              </a:ext>
            </a:extLst>
          </p:cNvPr>
          <p:cNvSpPr txBox="1">
            <a:spLocks/>
          </p:cNvSpPr>
          <p:nvPr/>
        </p:nvSpPr>
        <p:spPr>
          <a:xfrm>
            <a:off x="675957" y="742648"/>
            <a:ext cx="4735798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4000" dirty="0"/>
              <a:t>Future scope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236E3EB9-1211-69BD-48FD-D89B9442FACA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4DC75D50-C53B-57D7-603A-B98F22F07C1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3" name="Future Scope Content">
            <a:extLst>
              <a:ext uri="{FF2B5EF4-FFF2-40B4-BE49-F238E27FC236}">
                <a16:creationId xmlns:a16="http://schemas.microsoft.com/office/drawing/2014/main" id="{045DA45F-44C6-6F71-0B94-D711F560EB0B}"/>
              </a:ext>
            </a:extLst>
          </p:cNvPr>
          <p:cNvSpPr txBox="1"/>
          <p:nvPr/>
        </p:nvSpPr>
        <p:spPr>
          <a:xfrm>
            <a:off x="675957" y="1871920"/>
            <a:ext cx="10500000" cy="46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Incorporate real-time weather &amp; satellite data (IMD, remote sensing) for dynamic seasonal forecasts</a:t>
            </a:r>
          </a:p>
          <a:p>
            <a:pPr marL="342900" indent="-34290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Build a farmer-facing dashboard / mobile app for season-wise crop and irrigation advice</a:t>
            </a:r>
          </a:p>
          <a:p>
            <a:pPr marL="342900" indent="-34290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Extend the analysis to district/block-level granularity for hyper-local recommendations</a:t>
            </a:r>
          </a:p>
          <a:p>
            <a:pPr marL="342900" indent="-34290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Add multi-year time-series data to capture inter-annual climate variability</a:t>
            </a:r>
          </a:p>
          <a:p>
            <a:pPr marL="342900" indent="-34290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Integrate market-price forecasting to strengthen the profit-prediction model</a:t>
            </a:r>
          </a:p>
          <a:p>
            <a:pPr marL="342900" indent="-34290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Deploy the Random Forest models as an API for real-time yield/profit prediction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256" y="859872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151E95-77BC-DE4B-E54E-1224C386B2E5}"/>
              </a:ext>
            </a:extLst>
          </p:cNvPr>
          <p:cNvSpPr txBox="1"/>
          <p:nvPr/>
        </p:nvSpPr>
        <p:spPr>
          <a:xfrm>
            <a:off x="729256" y="2015234"/>
            <a:ext cx="72328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https://github.com/MithunKumarRajak/Seasonal-Agriculture-Performance-Analysis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193040"/>
            <a:ext cx="11080614" cy="703080"/>
          </a:xfrm>
        </p:spPr>
        <p:txBody>
          <a:bodyPr>
            <a:noAutofit/>
          </a:bodyPr>
          <a:lstStyle/>
          <a:p>
            <a:r>
              <a:rPr lang="en-IN" sz="2000" dirty="0"/>
              <a:t>VOIS Course completion certificate:			</a:t>
            </a:r>
            <a:br>
              <a:rPr lang="en-IN" sz="2000" dirty="0"/>
            </a:br>
            <a:r>
              <a:rPr lang="en-IN" sz="20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CEA9F5E-FDE7-5576-2214-53BED4F5D6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37"/>
          <a:stretch>
            <a:fillRect/>
          </a:stretch>
        </p:blipFill>
        <p:spPr>
          <a:xfrm>
            <a:off x="783204" y="1017037"/>
            <a:ext cx="8085521" cy="564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35182"/>
            <a:ext cx="11340000" cy="700114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www.w3.org/XML/1998/namespace"/>
    <ds:schemaRef ds:uri="71af3243-3dd4-4a8d-8c0d-dd76da1f02a5"/>
    <ds:schemaRef ds:uri="http://purl.org/dc/elements/1.1/"/>
    <ds:schemaRef ds:uri="http://schemas.microsoft.com/office/infopath/2007/PartnerControls"/>
    <ds:schemaRef ds:uri="16c05727-aa75-4e4a-9b5f-8a80a1165891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696</TotalTime>
  <Words>1018</Words>
  <Application>Microsoft Office PowerPoint</Application>
  <PresentationFormat>Widescreen</PresentationFormat>
  <Paragraphs>87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Wingdings 3</vt:lpstr>
      <vt:lpstr>Facet</vt:lpstr>
      <vt:lpstr>Project Title:Seasonal Agriculture Performance Analysis</vt:lpstr>
      <vt:lpstr>PROBLEM  STATEMENT</vt:lpstr>
      <vt:lpstr>Project Description</vt:lpstr>
      <vt:lpstr>WHO ARE THE END USERS?</vt:lpstr>
      <vt:lpstr>Technology Used</vt:lpstr>
      <vt:lpstr>RESULTS </vt:lpstr>
      <vt:lpstr>RESULTS </vt:lpstr>
      <vt:lpstr>RESULTS </vt:lpstr>
      <vt:lpstr>RESULTS </vt:lpstr>
      <vt:lpstr>PowerPoint Presentation</vt:lpstr>
      <vt:lpstr>PowerPoint Presentation</vt:lpstr>
      <vt:lpstr>GitHub Link</vt:lpstr>
      <vt:lpstr>VOIS Course completion certificate:  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MITHUN KUMAR RAJAK</cp:lastModifiedBy>
  <cp:revision>101</cp:revision>
  <dcterms:created xsi:type="dcterms:W3CDTF">2021-07-11T13:13:15Z</dcterms:created>
  <dcterms:modified xsi:type="dcterms:W3CDTF">2026-09-12T07:12:35Z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